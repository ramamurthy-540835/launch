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93C71-881C-DFDE-2EEA-E7673487C9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87E9E-C993-01E7-283B-C133AA20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8DE7A-5991-2CB2-2F9E-994F9A44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FB104-71A7-2EA0-1987-9C0F76190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A8AAD-A78C-BA4A-A25A-47A87DDB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882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4B48E-0B31-AFB7-0262-5673852E1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43E65-70B8-FF93-C377-A0FDEB200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B1DC9-9610-3830-39BF-A29054FA3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DA92D-1A3F-728E-6D7F-06C64BC02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C93E3-85EA-9A84-6497-F5E70A6F6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76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04FC-3B32-1A91-4BA4-9FEC866B3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59230-7F31-A837-A9DC-DA816BEDC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AE250-CDD3-1D6B-D3F4-2E80743B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9948-BE3D-451F-CC35-9E45A8FC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069EF-BEEA-C777-9E3A-0B49425F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94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1FA7-955A-49CA-EB1C-C1995C301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B0A2C-D5AE-575B-B691-C072C1B6F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E6979-6C22-D44C-6FCC-6DF3FB090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EB972-F77B-198F-898F-658108CF6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7B709-1C73-3630-F542-A5F651D7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B6C96-9435-2DD5-B808-60C788EE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802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D0951-E687-3F0D-3A0A-5C52F1F6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5F6E9-062D-7BB8-AB5F-452D47876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227B56-16D0-3616-3922-72FEC18DE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12D61D-E98A-6796-0833-7FA9FC868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D281B3-2893-4ADB-2FE1-93E2887D6C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2F154F-B365-F96A-8B14-1E3BE65D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408DB-1325-DD56-A117-826D918E2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894D8D-196E-4727-BE77-AD344270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20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ADDC-6324-EF1E-855A-751601691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0455CB-8051-C00D-FE80-33DFCE89D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22F12-5D8A-4792-976B-0DE7F030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63975-7F85-18EF-AEA5-5684950C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75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7070B-0B44-9D1E-26EF-DA58833F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BC4F36-D13A-C0F4-494D-F2E226C3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B3030-C129-DBC7-6CFE-D7A3991D8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6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FDA9C-6DBC-B39E-B1F8-622EF529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DD6B-896E-9A39-DB91-4D19E6D6B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1119E-75AA-ECE0-AF00-AE19BD3A9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D5363-6B26-6463-D663-A149FD2B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64102-D69C-94FB-8B6C-0CE2327E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4A2F7-B205-08DB-620F-6263D3B6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7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6EF0-DB4D-49BC-8C57-90E8C7E07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2763A2-82F2-51C0-7E7E-94344DD424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5C10F-13E5-62D7-D2D2-FF4AE70F1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62156-7975-973C-EA85-C07E69DB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7FF84-E7D2-C8E6-E074-3B52856D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69311-CF42-29BB-7728-B07EDDF9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11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A5F7-7749-10E9-FADD-9BFB8E07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42EEF-3D4D-6ACC-92EF-43952B94AF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3550C-47F6-427C-FBB2-F0B717C9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3A847-000E-DA20-2CC2-C536CBB0A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444DF-88BF-953D-F6ED-5281D1C5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558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0FBBE-8B73-E252-1814-0723E3957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F11963-48BC-0982-0888-AB89D9D8A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C9B6DD-E003-1FAF-510D-87A9B1A03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35033-5474-BA2D-DC71-EA4A0C6A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3A0F2-CBBB-77DD-D394-B3B33144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48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090B57-8157-751D-8385-67779BCFB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4D240-7DE9-ED2F-ACA6-6CFA57DB3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C74F1-8FDA-A846-9630-2A3C5F79D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BE8F4-CAAA-487B-8309-5A102D5E99B8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C77C0-B6C6-E84C-BC43-2E318D3A30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BC80-6AA6-1DA6-1BA4-731D5E3A5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A5F491-1ED6-4F24-A01A-A70E54375C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3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ECE0B0-4DD5-5FFF-BF72-D78A0690134C}"/>
              </a:ext>
            </a:extLst>
          </p:cNvPr>
          <p:cNvSpPr/>
          <p:nvPr/>
        </p:nvSpPr>
        <p:spPr>
          <a:xfrm>
            <a:off x="0" y="5207000"/>
            <a:ext cx="12192000" cy="1651000"/>
          </a:xfrm>
          <a:prstGeom prst="rect">
            <a:avLst/>
          </a:prstGeom>
          <a:solidFill>
            <a:srgbClr val="F8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8EE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7178C0-572F-7A71-3DC1-7A2720FEBD9E}"/>
              </a:ext>
            </a:extLst>
          </p:cNvPr>
          <p:cNvSpPr/>
          <p:nvPr/>
        </p:nvSpPr>
        <p:spPr>
          <a:xfrm>
            <a:off x="8890000" y="0"/>
            <a:ext cx="3302000" cy="68580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601C5A3-2A5C-6033-A88C-DFA92F76EEF7}"/>
              </a:ext>
            </a:extLst>
          </p:cNvPr>
          <p:cNvSpPr/>
          <p:nvPr/>
        </p:nvSpPr>
        <p:spPr>
          <a:xfrm>
            <a:off x="609600" y="533400"/>
            <a:ext cx="584200" cy="584200"/>
          </a:xfrm>
          <a:prstGeom prst="round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2DCE2-5E45-F3D9-9893-D34AE5F2DF3A}"/>
              </a:ext>
            </a:extLst>
          </p:cNvPr>
          <p:cNvSpPr txBox="1"/>
          <p:nvPr/>
        </p:nvSpPr>
        <p:spPr>
          <a:xfrm>
            <a:off x="762000" y="635000"/>
            <a:ext cx="30480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000" b="1">
                <a:solidFill>
                  <a:srgbClr val="17372B"/>
                </a:solidFill>
                <a:latin typeface="Aptos Display" panose="020B0004020202020204" pitchFamily="34" charset="0"/>
              </a:rPr>
              <a:t>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440B4-262D-EDAF-8CA6-9689AA1BEBD9}"/>
              </a:ext>
            </a:extLst>
          </p:cNvPr>
          <p:cNvSpPr txBox="1"/>
          <p:nvPr/>
        </p:nvSpPr>
        <p:spPr>
          <a:xfrm>
            <a:off x="1371600" y="609600"/>
            <a:ext cx="317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200" b="1">
                <a:solidFill>
                  <a:srgbClr val="FFFFFF"/>
                </a:solidFill>
                <a:latin typeface="Aptos" panose="020B0004020202020204" pitchFamily="34" charset="0"/>
              </a:rPr>
              <a:t>LunchBox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333BD-5132-34E9-36FB-E810D1E9C1F5}"/>
              </a:ext>
            </a:extLst>
          </p:cNvPr>
          <p:cNvSpPr txBox="1"/>
          <p:nvPr/>
        </p:nvSpPr>
        <p:spPr>
          <a:xfrm>
            <a:off x="609600" y="1905000"/>
            <a:ext cx="7747000" cy="107721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500" b="1">
                <a:solidFill>
                  <a:srgbClr val="FFFFFF"/>
                </a:solidFill>
                <a:latin typeface="Aptos Display" panose="020B0004020202020204" pitchFamily="34" charset="0"/>
              </a:rPr>
              <a:t>Market Launch &amp;</a:t>
            </a:r>
          </a:p>
          <a:p>
            <a:r>
              <a:rPr lang="en-US" sz="3500" b="1">
                <a:solidFill>
                  <a:srgbClr val="FFFFFF"/>
                </a:solidFill>
                <a:latin typeface="Aptos Display" panose="020B0004020202020204" pitchFamily="34" charset="0"/>
              </a:rPr>
              <a:t>Google Ads Strategy</a:t>
            </a:r>
            <a:endParaRPr lang="en-IN" sz="35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FDBCB-07A3-01A8-1210-4DB620D618BE}"/>
              </a:ext>
            </a:extLst>
          </p:cNvPr>
          <p:cNvSpPr txBox="1"/>
          <p:nvPr/>
        </p:nvSpPr>
        <p:spPr>
          <a:xfrm>
            <a:off x="609600" y="3581400"/>
            <a:ext cx="7366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>
                <a:solidFill>
                  <a:srgbClr val="E9F1E4"/>
                </a:solidFill>
                <a:latin typeface="Aptos" panose="020B0004020202020204" pitchFamily="34" charset="0"/>
              </a:rPr>
              <a:t>A focused route from school pilot to repeatable growth for vegetarian student lunches in Tamil Nadu.</a:t>
            </a:r>
            <a:endParaRPr lang="en-IN" sz="1600">
              <a:solidFill>
                <a:srgbClr val="E9F1E4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A61210-038A-3B77-763B-EB847F29EEFE}"/>
              </a:ext>
            </a:extLst>
          </p:cNvPr>
          <p:cNvSpPr txBox="1"/>
          <p:nvPr/>
        </p:nvSpPr>
        <p:spPr>
          <a:xfrm>
            <a:off x="609600" y="5892800"/>
            <a:ext cx="6858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 b="1">
                <a:solidFill>
                  <a:srgbClr val="17372B"/>
                </a:solidFill>
                <a:latin typeface="Aptos" panose="020B0004020202020204" pitchFamily="34" charset="0"/>
              </a:rPr>
              <a:t>LAUNCH BLUEPRINT · 5 AUGUST 2026</a:t>
            </a:r>
            <a:endParaRPr lang="en-IN" sz="11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915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7E0BD-7E44-2438-6450-81F1AA4157E2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EXECUTIVE RECOMMENDATION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28E517-B6D4-DBAF-7AA0-68BC781A479B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Win one neighbourhood before four cities.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7F6E47-5091-557B-5F5F-53E39CC9AC69}"/>
              </a:ext>
            </a:extLst>
          </p:cNvPr>
          <p:cNvSpPr txBox="1"/>
          <p:nvPr/>
        </p:nvSpPr>
        <p:spPr>
          <a:xfrm>
            <a:off x="609600" y="1371600"/>
            <a:ext cx="1079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C7666"/>
                </a:solidFill>
                <a:latin typeface="Aptos" panose="020B0004020202020204" pitchFamily="34" charset="0"/>
              </a:rPr>
              <a:t>Start with a controlled Chennai B2B2C pilot, prove repeat ordering, then expand.</a:t>
            </a:r>
            <a:endParaRPr lang="en-IN" sz="13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C8615-C9D6-38B7-BBBB-5F861D81EA37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7E73E-12E2-4E20-1B1C-3EE842923013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9B8B5A-4095-EF87-2C71-BD38C652FFAA}"/>
              </a:ext>
            </a:extLst>
          </p:cNvPr>
          <p:cNvSpPr/>
          <p:nvPr/>
        </p:nvSpPr>
        <p:spPr>
          <a:xfrm>
            <a:off x="609600" y="2032000"/>
            <a:ext cx="25654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4CBB3-DD77-28BA-904B-7EAE33590B60}"/>
              </a:ext>
            </a:extLst>
          </p:cNvPr>
          <p:cNvSpPr txBox="1"/>
          <p:nvPr/>
        </p:nvSpPr>
        <p:spPr>
          <a:xfrm>
            <a:off x="812800" y="2197100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2–3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35F98C-9BA0-5BFE-4C8D-C5905892BA18}"/>
              </a:ext>
            </a:extLst>
          </p:cNvPr>
          <p:cNvSpPr txBox="1"/>
          <p:nvPr/>
        </p:nvSpPr>
        <p:spPr>
          <a:xfrm>
            <a:off x="812800" y="26797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Pilot schools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3D855C-573A-3C32-32CB-7D4F52F0BF34}"/>
              </a:ext>
            </a:extLst>
          </p:cNvPr>
          <p:cNvSpPr txBox="1"/>
          <p:nvPr/>
        </p:nvSpPr>
        <p:spPr>
          <a:xfrm>
            <a:off x="812800" y="2997200"/>
            <a:ext cx="2159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6C7666"/>
                </a:solidFill>
                <a:latin typeface="Aptos" panose="020B0004020202020204" pitchFamily="34" charset="0"/>
              </a:rPr>
              <a:t>One kitchen and one compact service area.</a:t>
            </a:r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85AB05-3DBA-0374-7577-7F361844CCF1}"/>
              </a:ext>
            </a:extLst>
          </p:cNvPr>
          <p:cNvSpPr/>
          <p:nvPr/>
        </p:nvSpPr>
        <p:spPr>
          <a:xfrm>
            <a:off x="3378200" y="2032000"/>
            <a:ext cx="25654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E1301E-3353-2208-C92A-6E38AAA22EB0}"/>
              </a:ext>
            </a:extLst>
          </p:cNvPr>
          <p:cNvSpPr txBox="1"/>
          <p:nvPr/>
        </p:nvSpPr>
        <p:spPr>
          <a:xfrm>
            <a:off x="3581400" y="2197100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50–100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8976A0-AD26-1AE2-CB69-C9062D2928B5}"/>
              </a:ext>
            </a:extLst>
          </p:cNvPr>
          <p:cNvSpPr txBox="1"/>
          <p:nvPr/>
        </p:nvSpPr>
        <p:spPr>
          <a:xfrm>
            <a:off x="3581400" y="26797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Initial students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20FEEF-05A0-7123-0B48-4E4991EF3E0E}"/>
              </a:ext>
            </a:extLst>
          </p:cNvPr>
          <p:cNvSpPr txBox="1"/>
          <p:nvPr/>
        </p:nvSpPr>
        <p:spPr>
          <a:xfrm>
            <a:off x="3581400" y="2997200"/>
            <a:ext cx="2159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6C7666"/>
                </a:solidFill>
                <a:latin typeface="Aptos" panose="020B0004020202020204" pitchFamily="34" charset="0"/>
              </a:rPr>
              <a:t>Enough volume to validate without overextension.</a:t>
            </a:r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40ACC8-EB1C-2F9F-E7A1-4474D4439B4C}"/>
              </a:ext>
            </a:extLst>
          </p:cNvPr>
          <p:cNvSpPr/>
          <p:nvPr/>
        </p:nvSpPr>
        <p:spPr>
          <a:xfrm>
            <a:off x="6146800" y="2032000"/>
            <a:ext cx="25654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9D953-F947-84CA-0FFC-31C8C7BF4E33}"/>
              </a:ext>
            </a:extLst>
          </p:cNvPr>
          <p:cNvSpPr txBox="1"/>
          <p:nvPr/>
        </p:nvSpPr>
        <p:spPr>
          <a:xfrm>
            <a:off x="6350000" y="2197100"/>
            <a:ext cx="2159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4–6 weeks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12BD07-8F57-3A98-D298-6F22C11DC35D}"/>
              </a:ext>
            </a:extLst>
          </p:cNvPr>
          <p:cNvSpPr txBox="1"/>
          <p:nvPr/>
        </p:nvSpPr>
        <p:spPr>
          <a:xfrm>
            <a:off x="6350000" y="2679700"/>
            <a:ext cx="2159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Validation period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21B88-1FF0-CAC6-5C61-86928B6E16F5}"/>
              </a:ext>
            </a:extLst>
          </p:cNvPr>
          <p:cNvSpPr txBox="1"/>
          <p:nvPr/>
        </p:nvSpPr>
        <p:spPr>
          <a:xfrm>
            <a:off x="6350000" y="2997200"/>
            <a:ext cx="2159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6C7666"/>
                </a:solidFill>
                <a:latin typeface="Aptos" panose="020B0004020202020204" pitchFamily="34" charset="0"/>
              </a:rPr>
              <a:t>Track repeat orders, experience and reliability.</a:t>
            </a:r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135537-668F-FDE5-33F6-508E03BEA4B8}"/>
              </a:ext>
            </a:extLst>
          </p:cNvPr>
          <p:cNvSpPr/>
          <p:nvPr/>
        </p:nvSpPr>
        <p:spPr>
          <a:xfrm>
            <a:off x="8915400" y="2032000"/>
            <a:ext cx="2667000" cy="16764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A76C3C-2794-25F2-408D-FE4C38835D36}"/>
              </a:ext>
            </a:extLst>
          </p:cNvPr>
          <p:cNvSpPr txBox="1"/>
          <p:nvPr/>
        </p:nvSpPr>
        <p:spPr>
          <a:xfrm>
            <a:off x="9118600" y="2197100"/>
            <a:ext cx="2260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₹30k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0B1C8-14C1-D49A-0F23-F46B36A0E5C1}"/>
              </a:ext>
            </a:extLst>
          </p:cNvPr>
          <p:cNvSpPr txBox="1"/>
          <p:nvPr/>
        </p:nvSpPr>
        <p:spPr>
          <a:xfrm>
            <a:off x="9118600" y="2679700"/>
            <a:ext cx="2260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Ads test ceiling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E29DDF-12B4-83DF-B64C-AE1EF5022D43}"/>
              </a:ext>
            </a:extLst>
          </p:cNvPr>
          <p:cNvSpPr txBox="1"/>
          <p:nvPr/>
        </p:nvSpPr>
        <p:spPr>
          <a:xfrm>
            <a:off x="9118600" y="2997200"/>
            <a:ext cx="22606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50">
                <a:solidFill>
                  <a:srgbClr val="6C7666"/>
                </a:solidFill>
                <a:latin typeface="Aptos" panose="020B0004020202020204" pitchFamily="34" charset="0"/>
              </a:rPr>
              <a:t>Validation budget—not a scale budget.</a:t>
            </a:r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EA96B32-2D08-A0BA-08C3-0ECD675766FC}"/>
              </a:ext>
            </a:extLst>
          </p:cNvPr>
          <p:cNvSpPr/>
          <p:nvPr/>
        </p:nvSpPr>
        <p:spPr>
          <a:xfrm>
            <a:off x="609600" y="4013200"/>
            <a:ext cx="10972800" cy="1854200"/>
          </a:xfrm>
          <a:prstGeom prst="roundRect">
            <a:avLst/>
          </a:prstGeom>
          <a:solidFill>
            <a:srgbClr val="F8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8EE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740D5-39D0-25A8-1344-D3DF4B6C4E11}"/>
              </a:ext>
            </a:extLst>
          </p:cNvPr>
          <p:cNvSpPr txBox="1"/>
          <p:nvPr/>
        </p:nvSpPr>
        <p:spPr>
          <a:xfrm>
            <a:off x="863600" y="4241800"/>
            <a:ext cx="104648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F2A63B"/>
                </a:solidFill>
                <a:latin typeface="Aptos" panose="020B0004020202020204" pitchFamily="34" charset="0"/>
              </a:rPr>
              <a:t>THE COMMERCIAL REALITY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73911-5221-C0D0-8C6F-C0055A3962F3}"/>
              </a:ext>
            </a:extLst>
          </p:cNvPr>
          <p:cNvSpPr txBox="1"/>
          <p:nvPr/>
        </p:nvSpPr>
        <p:spPr>
          <a:xfrm>
            <a:off x="863600" y="4673600"/>
            <a:ext cx="10464800" cy="58477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900" b="1">
                <a:solidFill>
                  <a:srgbClr val="17372B"/>
                </a:solidFill>
                <a:latin typeface="Aptos" panose="020B0004020202020204" pitchFamily="34" charset="0"/>
              </a:rPr>
              <a:t>At ₹39 per meal, paid acquisition for a single order is unlikely to work. Marketing must lead parents toward weekly plans and schools toward campus-wide partnerships.</a:t>
            </a:r>
            <a:endParaRPr lang="en-IN" sz="19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00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BEEC6-B7C5-470B-DA77-C75E5B8FE887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LAUNCH READINESS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0C6DA-DC32-B477-407B-8B79F9ADCC47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Do not pay for traffic to a demo.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46CBC-5BDF-3AE0-A04D-3E4779F91A12}"/>
              </a:ext>
            </a:extLst>
          </p:cNvPr>
          <p:cNvSpPr txBox="1"/>
          <p:nvPr/>
        </p:nvSpPr>
        <p:spPr>
          <a:xfrm>
            <a:off x="609600" y="1371600"/>
            <a:ext cx="1079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C7666"/>
                </a:solidFill>
                <a:latin typeface="Aptos" panose="020B0004020202020204" pitchFamily="34" charset="0"/>
              </a:rPr>
              <a:t>Replace unverified claims and make fulfilment, trust, compliance and measurement real.</a:t>
            </a:r>
            <a:endParaRPr lang="en-IN" sz="13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FF9DB5-641A-7A72-EACA-678506708A64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6BBBB-1C42-C6F2-FF41-BED1839BAF80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811A85-9500-E6AA-5E72-D6CE85F61574}"/>
              </a:ext>
            </a:extLst>
          </p:cNvPr>
          <p:cNvSpPr/>
          <p:nvPr/>
        </p:nvSpPr>
        <p:spPr>
          <a:xfrm>
            <a:off x="609600" y="1981200"/>
            <a:ext cx="2565400" cy="2895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977213-3690-D0AE-4A18-8BB871F32286}"/>
              </a:ext>
            </a:extLst>
          </p:cNvPr>
          <p:cNvSpPr txBox="1"/>
          <p:nvPr/>
        </p:nvSpPr>
        <p:spPr>
          <a:xfrm>
            <a:off x="812800" y="21590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Product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F5BBCD-6F37-5792-B6B7-1E304E9BD03E}"/>
              </a:ext>
            </a:extLst>
          </p:cNvPr>
          <p:cNvSpPr txBox="1"/>
          <p:nvPr/>
        </p:nvSpPr>
        <p:spPr>
          <a:xfrm>
            <a:off x="812800" y="2552700"/>
            <a:ext cx="2159000" cy="8848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Real schools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Working checkout/payment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Request-my-school flow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Correct broken characters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Mobile testing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A72B25-C724-DD05-AEED-4FDE0D1FE57B}"/>
              </a:ext>
            </a:extLst>
          </p:cNvPr>
          <p:cNvSpPr/>
          <p:nvPr/>
        </p:nvSpPr>
        <p:spPr>
          <a:xfrm>
            <a:off x="3378200" y="1981200"/>
            <a:ext cx="2565400" cy="2895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D1420-4CD1-A3AD-E5E2-6CE5EE6A0624}"/>
              </a:ext>
            </a:extLst>
          </p:cNvPr>
          <p:cNvSpPr txBox="1"/>
          <p:nvPr/>
        </p:nvSpPr>
        <p:spPr>
          <a:xfrm>
            <a:off x="3581400" y="21590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Trust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744DB-3C0D-E544-624E-C1BA502FD204}"/>
              </a:ext>
            </a:extLst>
          </p:cNvPr>
          <p:cNvSpPr txBox="1"/>
          <p:nvPr/>
        </p:nvSpPr>
        <p:spPr>
          <a:xfrm>
            <a:off x="3581400" y="2552700"/>
            <a:ext cx="2159000" cy="8848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Real food photography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Verified testimonials only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Support contact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Refund and delivery terms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Privacy policy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2203E4-CE83-C699-D637-3DCC1B744E63}"/>
              </a:ext>
            </a:extLst>
          </p:cNvPr>
          <p:cNvSpPr/>
          <p:nvPr/>
        </p:nvSpPr>
        <p:spPr>
          <a:xfrm>
            <a:off x="6146800" y="1981200"/>
            <a:ext cx="2565400" cy="2895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57677-C9B8-0A4A-8DFA-C7E05FDF8AA6}"/>
              </a:ext>
            </a:extLst>
          </p:cNvPr>
          <p:cNvSpPr txBox="1"/>
          <p:nvPr/>
        </p:nvSpPr>
        <p:spPr>
          <a:xfrm>
            <a:off x="6350000" y="2159000"/>
            <a:ext cx="2159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Food operations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8A59CC-CCF3-7AA0-279B-30128140E010}"/>
              </a:ext>
            </a:extLst>
          </p:cNvPr>
          <p:cNvSpPr txBox="1"/>
          <p:nvPr/>
        </p:nvSpPr>
        <p:spPr>
          <a:xfrm>
            <a:off x="6350000" y="2552700"/>
            <a:ext cx="2159000" cy="8848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Applicable FSSAI status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Ingredients and allergens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Temperature/packing SOPs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Traceability and recall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Claims review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907B5B6-0DFE-970E-F514-702784FD01DA}"/>
              </a:ext>
            </a:extLst>
          </p:cNvPr>
          <p:cNvSpPr/>
          <p:nvPr/>
        </p:nvSpPr>
        <p:spPr>
          <a:xfrm>
            <a:off x="8915400" y="1981200"/>
            <a:ext cx="2667000" cy="2895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B23005-7982-B776-878B-0642787AD416}"/>
              </a:ext>
            </a:extLst>
          </p:cNvPr>
          <p:cNvSpPr txBox="1"/>
          <p:nvPr/>
        </p:nvSpPr>
        <p:spPr>
          <a:xfrm>
            <a:off x="9118600" y="2159000"/>
            <a:ext cx="226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Measurement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DEC9D-0798-E2AB-AA7C-D08CF7739126}"/>
              </a:ext>
            </a:extLst>
          </p:cNvPr>
          <p:cNvSpPr txBox="1"/>
          <p:nvPr/>
        </p:nvSpPr>
        <p:spPr>
          <a:xfrm>
            <a:off x="9118600" y="2552700"/>
            <a:ext cx="2260600" cy="8848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Google Ads + Analytics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Order value captured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Campaign attribution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Test orders excluded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Weekly dashboard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C3E1A99-D106-63E8-3A6B-80D506A13244}"/>
              </a:ext>
            </a:extLst>
          </p:cNvPr>
          <p:cNvSpPr/>
          <p:nvPr/>
        </p:nvSpPr>
        <p:spPr>
          <a:xfrm>
            <a:off x="609600" y="5143500"/>
            <a:ext cx="10972800" cy="914400"/>
          </a:xfrm>
          <a:prstGeom prst="roundRect">
            <a:avLst/>
          </a:prstGeom>
          <a:solidFill>
            <a:srgbClr val="FF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FF0EA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EC7592-BB11-ADEB-6F42-09856DB50969}"/>
              </a:ext>
            </a:extLst>
          </p:cNvPr>
          <p:cNvSpPr txBox="1"/>
          <p:nvPr/>
        </p:nvSpPr>
        <p:spPr>
          <a:xfrm>
            <a:off x="838200" y="5334000"/>
            <a:ext cx="1054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D45C37"/>
                </a:solidFill>
                <a:latin typeface="Aptos" panose="020B0004020202020204" pitchFamily="34" charset="0"/>
              </a:rPr>
              <a:t>Remove placeholder ratings, “2,000+ parents,” school names and nutrition claims unless each is documented and defensible.</a:t>
            </a:r>
            <a:endParaRPr lang="en-IN" sz="1500" b="1">
              <a:solidFill>
                <a:srgbClr val="D45C37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19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FC5E8-E281-D14C-AE4A-773CF9ECE20C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GO-TO-MARKET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24633-3D01-4396-04C0-946D8DEDC691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Schools create access. Parents create recurring revenue.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F1E9FF-F9F9-E3C6-32AD-ED8B38F0BCAB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3C689-DE9D-C240-B8EF-B03330CBAD4C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AC5096-8E77-56E3-E876-8DB3AB046C04}"/>
              </a:ext>
            </a:extLst>
          </p:cNvPr>
          <p:cNvSpPr/>
          <p:nvPr/>
        </p:nvSpPr>
        <p:spPr>
          <a:xfrm>
            <a:off x="609600" y="1803400"/>
            <a:ext cx="736600" cy="736600"/>
          </a:xfrm>
          <a:prstGeom prst="round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F33EA-9C57-2112-0333-9AE6C5D59E6A}"/>
              </a:ext>
            </a:extLst>
          </p:cNvPr>
          <p:cNvSpPr txBox="1"/>
          <p:nvPr/>
        </p:nvSpPr>
        <p:spPr>
          <a:xfrm>
            <a:off x="609600" y="1955800"/>
            <a:ext cx="736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17372B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1B59B-BB87-1DD2-7F5D-0EBAE6FFA34A}"/>
              </a:ext>
            </a:extLst>
          </p:cNvPr>
          <p:cNvSpPr txBox="1"/>
          <p:nvPr/>
        </p:nvSpPr>
        <p:spPr>
          <a:xfrm>
            <a:off x="1625600" y="1828800"/>
            <a:ext cx="317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600" b="1">
                <a:solidFill>
                  <a:srgbClr val="17372B"/>
                </a:solidFill>
                <a:latin typeface="Aptos" panose="020B0004020202020204" pitchFamily="34" charset="0"/>
              </a:rPr>
              <a:t>Acquire the campus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5ADEEE-F650-05C4-9AB8-CC5143394D3A}"/>
              </a:ext>
            </a:extLst>
          </p:cNvPr>
          <p:cNvSpPr txBox="1"/>
          <p:nvPr/>
        </p:nvSpPr>
        <p:spPr>
          <a:xfrm>
            <a:off x="1625600" y="2171700"/>
            <a:ext cx="914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C7666"/>
                </a:solidFill>
                <a:latin typeface="Aptos" panose="020B0004020202020204" pitchFamily="34" charset="0"/>
              </a:rPr>
              <a:t>Decision-maker meeting, tasting and written pilot scope.</a:t>
            </a:r>
            <a:endParaRPr lang="en-IN" sz="12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7815E4-432D-443B-4EBC-F2C28F3B1514}"/>
              </a:ext>
            </a:extLst>
          </p:cNvPr>
          <p:cNvSpPr/>
          <p:nvPr/>
        </p:nvSpPr>
        <p:spPr>
          <a:xfrm>
            <a:off x="609600" y="2895600"/>
            <a:ext cx="736600" cy="736600"/>
          </a:xfrm>
          <a:prstGeom prst="round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07C1F1-68DD-3152-6A09-9A260A4AB1F0}"/>
              </a:ext>
            </a:extLst>
          </p:cNvPr>
          <p:cNvSpPr txBox="1"/>
          <p:nvPr/>
        </p:nvSpPr>
        <p:spPr>
          <a:xfrm>
            <a:off x="609600" y="3048000"/>
            <a:ext cx="736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17372B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83811D-BB26-5D36-42B8-E9371942494C}"/>
              </a:ext>
            </a:extLst>
          </p:cNvPr>
          <p:cNvSpPr txBox="1"/>
          <p:nvPr/>
        </p:nvSpPr>
        <p:spPr>
          <a:xfrm>
            <a:off x="1625600" y="2921000"/>
            <a:ext cx="317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600" b="1">
                <a:solidFill>
                  <a:srgbClr val="17372B"/>
                </a:solidFill>
                <a:latin typeface="Aptos" panose="020B0004020202020204" pitchFamily="34" charset="0"/>
              </a:rPr>
              <a:t>Activate parents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7E510-0B8F-8597-08C2-DA8BF6DF1255}"/>
              </a:ext>
            </a:extLst>
          </p:cNvPr>
          <p:cNvSpPr txBox="1"/>
          <p:nvPr/>
        </p:nvSpPr>
        <p:spPr>
          <a:xfrm>
            <a:off x="1625600" y="3263900"/>
            <a:ext cx="914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C7666"/>
                </a:solidFill>
                <a:latin typeface="Aptos" panose="020B0004020202020204" pitchFamily="34" charset="0"/>
              </a:rPr>
              <a:t>School-specific landing page, QR code and official parent communication.</a:t>
            </a:r>
            <a:endParaRPr lang="en-IN" sz="12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94365C-E156-7112-0A12-851D3C5FB23D}"/>
              </a:ext>
            </a:extLst>
          </p:cNvPr>
          <p:cNvSpPr/>
          <p:nvPr/>
        </p:nvSpPr>
        <p:spPr>
          <a:xfrm>
            <a:off x="609600" y="3987800"/>
            <a:ext cx="736600" cy="736600"/>
          </a:xfrm>
          <a:prstGeom prst="round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9074D-A748-0BED-F551-DCE1F875E9DD}"/>
              </a:ext>
            </a:extLst>
          </p:cNvPr>
          <p:cNvSpPr txBox="1"/>
          <p:nvPr/>
        </p:nvSpPr>
        <p:spPr>
          <a:xfrm>
            <a:off x="609600" y="4140200"/>
            <a:ext cx="736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17372B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393425-2361-42CF-DBDF-4919515C053C}"/>
              </a:ext>
            </a:extLst>
          </p:cNvPr>
          <p:cNvSpPr txBox="1"/>
          <p:nvPr/>
        </p:nvSpPr>
        <p:spPr>
          <a:xfrm>
            <a:off x="1625600" y="4013200"/>
            <a:ext cx="317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600" b="1">
                <a:solidFill>
                  <a:srgbClr val="17372B"/>
                </a:solidFill>
                <a:latin typeface="Aptos" panose="020B0004020202020204" pitchFamily="34" charset="0"/>
              </a:rPr>
              <a:t>Sell weekly plans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47D3EF-7224-54F4-A2E6-BA0C6ED7F624}"/>
              </a:ext>
            </a:extLst>
          </p:cNvPr>
          <p:cNvSpPr txBox="1"/>
          <p:nvPr/>
        </p:nvSpPr>
        <p:spPr>
          <a:xfrm>
            <a:off x="1625600" y="4356100"/>
            <a:ext cx="914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C7666"/>
                </a:solidFill>
                <a:latin typeface="Aptos" panose="020B0004020202020204" pitchFamily="34" charset="0"/>
              </a:rPr>
              <a:t>Use one-meal trials to lead toward 3-day, 5-day and monthly plans.</a:t>
            </a:r>
            <a:endParaRPr lang="en-IN" sz="12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F37906-8ACD-C655-057E-0DAC9DBEF88F}"/>
              </a:ext>
            </a:extLst>
          </p:cNvPr>
          <p:cNvSpPr/>
          <p:nvPr/>
        </p:nvSpPr>
        <p:spPr>
          <a:xfrm>
            <a:off x="609600" y="5080000"/>
            <a:ext cx="736600" cy="736600"/>
          </a:xfrm>
          <a:prstGeom prst="round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15E458-8266-5704-7AB7-C328DBA95659}"/>
              </a:ext>
            </a:extLst>
          </p:cNvPr>
          <p:cNvSpPr txBox="1"/>
          <p:nvPr/>
        </p:nvSpPr>
        <p:spPr>
          <a:xfrm>
            <a:off x="609600" y="5232400"/>
            <a:ext cx="7366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17372B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2AE2FB-6211-DF1D-3D51-9A994F026847}"/>
              </a:ext>
            </a:extLst>
          </p:cNvPr>
          <p:cNvSpPr txBox="1"/>
          <p:nvPr/>
        </p:nvSpPr>
        <p:spPr>
          <a:xfrm>
            <a:off x="1625600" y="5105400"/>
            <a:ext cx="3175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600" b="1">
                <a:solidFill>
                  <a:srgbClr val="17372B"/>
                </a:solidFill>
                <a:latin typeface="Aptos" panose="020B0004020202020204" pitchFamily="34" charset="0"/>
              </a:rPr>
              <a:t>Retain and refer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AE1E65-539A-062F-8185-93230BFA7585}"/>
              </a:ext>
            </a:extLst>
          </p:cNvPr>
          <p:cNvSpPr txBox="1"/>
          <p:nvPr/>
        </p:nvSpPr>
        <p:spPr>
          <a:xfrm>
            <a:off x="1625600" y="5448300"/>
            <a:ext cx="914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6C7666"/>
                </a:solidFill>
                <a:latin typeface="Aptos" panose="020B0004020202020204" pitchFamily="34" charset="0"/>
              </a:rPr>
              <a:t>Weekly menus, reliable service and margin-safe parent referrals.</a:t>
            </a:r>
            <a:endParaRPr lang="en-IN" sz="12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53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A645BC-6B42-2A55-5BFB-676FB8705E76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COMMERCIAL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C008B-8E6C-33F7-5B66-AECAA15AC1C4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Bundle meals and diversify acquisition.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7D0078-0437-92B9-F6AC-3E0E297A4703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526B06-D88A-386E-AE0B-91C934A8982B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5BF2C0-B550-AFCA-670A-0AA47D95C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294764"/>
              </p:ext>
            </p:extLst>
          </p:nvPr>
        </p:nvGraphicFramePr>
        <p:xfrm>
          <a:off x="609600" y="1803400"/>
          <a:ext cx="52578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544180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3057128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7596812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Offer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Price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Role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8707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One-meal trial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₹39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First-purchase entry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68572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Three-day plan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₹117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Flexible bundle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18430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Five-day plan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₹195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Primary weekly plan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9608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Four-week plan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₹780*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Predictable demand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1848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B28DC5E-3BBA-A50A-7455-DA4B0489B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07718"/>
              </p:ext>
            </p:extLst>
          </p:nvPr>
        </p:nvGraphicFramePr>
        <p:xfrm>
          <a:off x="6172200" y="1803400"/>
          <a:ext cx="54102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144055778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2615544121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747021550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Channel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Effort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Purpose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7007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 partnerships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35%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Campus access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196908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Parent referrals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20%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Lower-cost acquisition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0226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WhatsApp / CRM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20%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Retention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41916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Google Search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15%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Capture demand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61096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Tastings / events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10%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Build confidence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318306"/>
                  </a:ext>
                </a:extLst>
              </a:tr>
            </a:tbl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892802-3788-9FF9-1772-BB6A99819F95}"/>
              </a:ext>
            </a:extLst>
          </p:cNvPr>
          <p:cNvSpPr/>
          <p:nvPr/>
        </p:nvSpPr>
        <p:spPr>
          <a:xfrm>
            <a:off x="609600" y="4800600"/>
            <a:ext cx="10972800" cy="1193800"/>
          </a:xfrm>
          <a:prstGeom prst="roundRect">
            <a:avLst/>
          </a:prstGeom>
          <a:solidFill>
            <a:srgbClr val="F8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8EE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CDAEB-C5EB-2943-6387-2190C4A17C2D}"/>
              </a:ext>
            </a:extLst>
          </p:cNvPr>
          <p:cNvSpPr txBox="1"/>
          <p:nvPr/>
        </p:nvSpPr>
        <p:spPr>
          <a:xfrm>
            <a:off x="863600" y="5003800"/>
            <a:ext cx="1046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REFERRAL CONCEPT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64408-2FE1-C57B-41BD-96C06F70FC87}"/>
              </a:ext>
            </a:extLst>
          </p:cNvPr>
          <p:cNvSpPr txBox="1"/>
          <p:nvPr/>
        </p:nvSpPr>
        <p:spPr>
          <a:xfrm>
            <a:off x="863600" y="5372100"/>
            <a:ext cx="10464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17372B"/>
                </a:solidFill>
                <a:latin typeface="Aptos" panose="020B0004020202020204" pitchFamily="34" charset="0"/>
              </a:rPr>
              <a:t>Both families receive one complimentary meal after each completes a five-meal order—only after margin validation.</a:t>
            </a:r>
            <a:endParaRPr lang="en-IN" sz="15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81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329C6-B693-5D60-D41B-05C543491275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GOOGLE ADS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1A470-61DD-D641-B5C0-86547A3601E8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Start with high-intent Search, split by buyer.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3916F6-ACFD-FCE3-2766-A7FDFC11C1EA}"/>
              </a:ext>
            </a:extLst>
          </p:cNvPr>
          <p:cNvSpPr txBox="1"/>
          <p:nvPr/>
        </p:nvSpPr>
        <p:spPr>
          <a:xfrm>
            <a:off x="609600" y="1371600"/>
            <a:ext cx="10795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C7666"/>
                </a:solidFill>
                <a:latin typeface="Aptos" panose="020B0004020202020204" pitchFamily="34" charset="0"/>
              </a:rPr>
              <a:t>Delay Display, YouTube and Performance Max until tracking and economics are proven.</a:t>
            </a:r>
            <a:endParaRPr lang="en-IN" sz="130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EC1FE-84FD-DDE4-67C3-9DF90DA1F7F4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0030D-C277-4173-EB3A-59767B2BBD82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6083376-571E-CCAB-CCDF-F362DB7D6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653080"/>
              </p:ext>
            </p:extLst>
          </p:nvPr>
        </p:nvGraphicFramePr>
        <p:xfrm>
          <a:off x="609600" y="1955800"/>
          <a:ext cx="109728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46530988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2538946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51781678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06442509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Campaign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Daily budget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Primary goal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Landing page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55779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Parents · Chennai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₹700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Weekly meal order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School/location menu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24301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Schools · Chennai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₹300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Qualified enquiry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Partnership page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6834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Month-one ceiling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₹30,000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Validated economics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—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88439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9041DDF-6C82-E494-D4BD-B5EB83200BB9}"/>
              </a:ext>
            </a:extLst>
          </p:cNvPr>
          <p:cNvSpPr txBox="1"/>
          <p:nvPr/>
        </p:nvSpPr>
        <p:spPr>
          <a:xfrm>
            <a:off x="609600" y="4241800"/>
            <a:ext cx="5207000" cy="114646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Search Network only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Serviceable neighbourhoods only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Presence-based location targeting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Separate English and Tamil campaigns</a:t>
            </a:r>
            <a:endParaRPr lang="en-IN" sz="130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E97FAC-22DA-8BC4-E416-36220C001F33}"/>
              </a:ext>
            </a:extLst>
          </p:cNvPr>
          <p:cNvSpPr txBox="1"/>
          <p:nvPr/>
        </p:nvSpPr>
        <p:spPr>
          <a:xfrm>
            <a:off x="6350000" y="4241800"/>
            <a:ext cx="5232400" cy="114646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Start with Maximize Clicks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Move to conversion bidding later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Target parents and decision-makers</a:t>
            </a:r>
          </a:p>
          <a:p>
            <a:pPr>
              <a:spcAft>
                <a:spcPts val="900"/>
              </a:spcAft>
            </a:pPr>
            <a:r>
              <a:rPr lang="en-US" sz="1300">
                <a:solidFill>
                  <a:srgbClr val="17372B"/>
                </a:solidFill>
                <a:latin typeface="Aptos" panose="020B0004020202020204" pitchFamily="34" charset="0"/>
              </a:rPr>
              <a:t>•  Never personalize toward children</a:t>
            </a:r>
            <a:endParaRPr lang="en-IN" sz="130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75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DFF08A-4252-558F-E452-BE03E52321F5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SEARCH STRATEGY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6930C7-1AE7-5B53-2B0F-AC77B98AC718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Match the query to the buyer.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C0E6B4-3B4B-7ECF-BAAC-AF84522056C6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2DBA92-64E4-6E4E-4898-3E48F8FE5CD4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893C53-E01D-CA1C-32BD-D72EB3B18C16}"/>
              </a:ext>
            </a:extLst>
          </p:cNvPr>
          <p:cNvSpPr/>
          <p:nvPr/>
        </p:nvSpPr>
        <p:spPr>
          <a:xfrm>
            <a:off x="609600" y="1803400"/>
            <a:ext cx="5207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BE9BA-E80E-A27D-5467-2671D7947740}"/>
              </a:ext>
            </a:extLst>
          </p:cNvPr>
          <p:cNvSpPr txBox="1"/>
          <p:nvPr/>
        </p:nvSpPr>
        <p:spPr>
          <a:xfrm>
            <a:off x="812800" y="1968500"/>
            <a:ext cx="4800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school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29194-A4D5-5AD9-B989-918C2709F581}"/>
              </a:ext>
            </a:extLst>
          </p:cNvPr>
          <p:cNvSpPr txBox="1"/>
          <p:nvPr/>
        </p:nvSpPr>
        <p:spPr>
          <a:xfrm>
            <a:off x="812800" y="2451100"/>
            <a:ext cx="4800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Parent keywords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1F6FD0-2EE0-9E39-C9E2-233398B944CD}"/>
              </a:ext>
            </a:extLst>
          </p:cNvPr>
          <p:cNvSpPr txBox="1"/>
          <p:nvPr/>
        </p:nvSpPr>
        <p:spPr>
          <a:xfrm>
            <a:off x="812800" y="2768600"/>
            <a:ext cx="48006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057E27-465E-0910-D760-42508847F21E}"/>
              </a:ext>
            </a:extLst>
          </p:cNvPr>
          <p:cNvSpPr/>
          <p:nvPr/>
        </p:nvSpPr>
        <p:spPr>
          <a:xfrm>
            <a:off x="6375400" y="1803400"/>
            <a:ext cx="5207000" cy="29210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12DBBE-C8A6-80DE-1678-9A222731821F}"/>
              </a:ext>
            </a:extLst>
          </p:cNvPr>
          <p:cNvSpPr txBox="1"/>
          <p:nvPr/>
        </p:nvSpPr>
        <p:spPr>
          <a:xfrm>
            <a:off x="6578600" y="1968500"/>
            <a:ext cx="4800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400" b="1">
                <a:solidFill>
                  <a:srgbClr val="F2A63B"/>
                </a:solidFill>
                <a:latin typeface="Aptos" panose="020B0004020202020204" pitchFamily="34" charset="0"/>
              </a:rPr>
              <a:t>school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2419F-5991-732D-D2FC-17678269030C}"/>
              </a:ext>
            </a:extLst>
          </p:cNvPr>
          <p:cNvSpPr txBox="1"/>
          <p:nvPr/>
        </p:nvSpPr>
        <p:spPr>
          <a:xfrm>
            <a:off x="6578600" y="2451100"/>
            <a:ext cx="48006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 b="1">
                <a:solidFill>
                  <a:srgbClr val="17372B"/>
                </a:solidFill>
                <a:latin typeface="Aptos" panose="020B0004020202020204" pitchFamily="34" charset="0"/>
              </a:rPr>
              <a:t>School keywords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728085-0CD7-22A4-979F-A50E3FA8ACF0}"/>
              </a:ext>
            </a:extLst>
          </p:cNvPr>
          <p:cNvSpPr txBox="1"/>
          <p:nvPr/>
        </p:nvSpPr>
        <p:spPr>
          <a:xfrm>
            <a:off x="6578600" y="2768600"/>
            <a:ext cx="4800600" cy="16158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endParaRPr lang="en-IN" sz="1050">
              <a:solidFill>
                <a:srgbClr val="6C7666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3FAFE6-1332-04A8-F75D-3D73EF92546E}"/>
              </a:ext>
            </a:extLst>
          </p:cNvPr>
          <p:cNvSpPr/>
          <p:nvPr/>
        </p:nvSpPr>
        <p:spPr>
          <a:xfrm>
            <a:off x="609600" y="5041900"/>
            <a:ext cx="10972800" cy="965200"/>
          </a:xfrm>
          <a:prstGeom prst="roundRect">
            <a:avLst/>
          </a:prstGeom>
          <a:solidFill>
            <a:srgbClr val="F5F7F4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F9FDF-F408-F7C0-CF7A-4558B509BE8D}"/>
              </a:ext>
            </a:extLst>
          </p:cNvPr>
          <p:cNvSpPr txBox="1"/>
          <p:nvPr/>
        </p:nvSpPr>
        <p:spPr>
          <a:xfrm>
            <a:off x="838200" y="5219700"/>
            <a:ext cx="1651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NEGATIVES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01CA77-49C6-CCE3-1FB2-D089642F0265}"/>
              </a:ext>
            </a:extLst>
          </p:cNvPr>
          <p:cNvSpPr txBox="1"/>
          <p:nvPr/>
        </p:nvSpPr>
        <p:spPr>
          <a:xfrm>
            <a:off x="838200" y="5549900"/>
            <a:ext cx="104648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200">
                <a:solidFill>
                  <a:srgbClr val="17372B"/>
                </a:solidFill>
                <a:latin typeface="Aptos" panose="020B0004020202020204" pitchFamily="34" charset="0"/>
              </a:rPr>
              <a:t>free · government · midday meal scheme · jobs · recipe · tiffin box · office lunch · franchise · wholesale</a:t>
            </a:r>
            <a:endParaRPr lang="en-IN" sz="120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55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3782B4-CB30-070B-549E-7CD803AABD6A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PARENT SEARCH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3265AE-45A2-C9FA-596C-C92F8D9F8342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Responsive ad assets built for local intent.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72EE2-2BB9-D93D-1DF4-ADF7F7D52875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623C6-7984-3F94-81F2-1234A501B2B2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6B7554-4806-FA10-F389-04F0EBE60EAE}"/>
              </a:ext>
            </a:extLst>
          </p:cNvPr>
          <p:cNvSpPr/>
          <p:nvPr/>
        </p:nvSpPr>
        <p:spPr>
          <a:xfrm>
            <a:off x="609600" y="1676400"/>
            <a:ext cx="109728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AD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E45AC-86A8-4031-01C1-386B9D9F1692}"/>
              </a:ext>
            </a:extLst>
          </p:cNvPr>
          <p:cNvSpPr txBox="1"/>
          <p:nvPr/>
        </p:nvSpPr>
        <p:spPr>
          <a:xfrm>
            <a:off x="838200" y="1841500"/>
            <a:ext cx="1041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>
                <a:solidFill>
                  <a:srgbClr val="267047"/>
                </a:solidFill>
                <a:latin typeface="Aptos" panose="020B0004020202020204" pitchFamily="34" charset="0"/>
              </a:rPr>
              <a:t>yourdomain.in › school-lunch › chennai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8E268-5A6A-6B32-6DAE-12834E4BDD6D}"/>
              </a:ext>
            </a:extLst>
          </p:cNvPr>
          <p:cNvSpPr txBox="1"/>
          <p:nvPr/>
        </p:nvSpPr>
        <p:spPr>
          <a:xfrm>
            <a:off x="838200" y="21082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2156A5"/>
                </a:solidFill>
                <a:latin typeface="Aptos" panose="020B0004020202020204" pitchFamily="34" charset="0"/>
              </a:rPr>
              <a:t>School Lunches in Chennai | Vegetarian Meals From ₹39</a:t>
            </a:r>
            <a:endParaRPr lang="en-IN" sz="1700">
              <a:solidFill>
                <a:srgbClr val="2156A5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8F22FB-40CA-688E-9BC2-05DCEF23067A}"/>
              </a:ext>
            </a:extLst>
          </p:cNvPr>
          <p:cNvSpPr txBox="1"/>
          <p:nvPr/>
        </p:nvSpPr>
        <p:spPr>
          <a:xfrm>
            <a:off x="838200" y="25019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84F44"/>
                </a:solidFill>
                <a:latin typeface="Aptos" panose="020B0004020202020204" pitchFamily="34" charset="0"/>
              </a:rPr>
              <a:t>Pre-order vegetarian school lunches for grades 6–12. Check your school today.</a:t>
            </a:r>
            <a:endParaRPr lang="en-IN" sz="1100">
              <a:solidFill>
                <a:srgbClr val="484F4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0D5171-5FE9-A070-EDEC-6BEEFF6312FB}"/>
              </a:ext>
            </a:extLst>
          </p:cNvPr>
          <p:cNvSpPr/>
          <p:nvPr/>
        </p:nvSpPr>
        <p:spPr>
          <a:xfrm>
            <a:off x="609600" y="3124200"/>
            <a:ext cx="5207000" cy="2768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68802F-496D-34BA-43BD-FEDD269D0B07}"/>
              </a:ext>
            </a:extLst>
          </p:cNvPr>
          <p:cNvSpPr txBox="1"/>
          <p:nvPr/>
        </p:nvSpPr>
        <p:spPr>
          <a:xfrm>
            <a:off x="812800" y="3302000"/>
            <a:ext cx="480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Headlines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A3E937-C824-7F3E-E1ED-F00AD800C404}"/>
              </a:ext>
            </a:extLst>
          </p:cNvPr>
          <p:cNvSpPr txBox="1"/>
          <p:nvPr/>
        </p:nvSpPr>
        <p:spPr>
          <a:xfrm>
            <a:off x="812800" y="3695700"/>
            <a:ext cx="4800600" cy="10618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School Lunches in Chennai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Vegetarian Meals From ₹39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Weekly School Meal Plans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Lunch Delivered to School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Made for Grades 6–12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Check If Your School Is Listed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39D19B2-D830-BC1C-C205-72F1D2B5BE07}"/>
              </a:ext>
            </a:extLst>
          </p:cNvPr>
          <p:cNvSpPr/>
          <p:nvPr/>
        </p:nvSpPr>
        <p:spPr>
          <a:xfrm>
            <a:off x="6375400" y="3124200"/>
            <a:ext cx="5207000" cy="2768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06AC64-9BA7-0300-C4DA-1A4DABC2EC0B}"/>
              </a:ext>
            </a:extLst>
          </p:cNvPr>
          <p:cNvSpPr txBox="1"/>
          <p:nvPr/>
        </p:nvSpPr>
        <p:spPr>
          <a:xfrm>
            <a:off x="6578600" y="3302000"/>
            <a:ext cx="480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Descriptions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D8B482-4AFC-4027-35E2-AE6B7E45B942}"/>
              </a:ext>
            </a:extLst>
          </p:cNvPr>
          <p:cNvSpPr txBox="1"/>
          <p:nvPr/>
        </p:nvSpPr>
        <p:spPr>
          <a:xfrm>
            <a:off x="6578600" y="3695700"/>
            <a:ext cx="4800600" cy="88485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Pre-order vegetarian school lunches for grades 6–12. Meals start from ₹39.</a:t>
            </a:r>
          </a:p>
          <a:p>
            <a:endParaRPr lang="en-US" sz="1150">
              <a:solidFill>
                <a:srgbClr val="17372B"/>
              </a:solidFill>
              <a:latin typeface="Aptos" panose="020B0004020202020204" pitchFamily="34" charset="0"/>
            </a:endParaRP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Labelled meals delivered to participating schools. Check your school today.</a:t>
            </a:r>
          </a:p>
          <a:p>
            <a:endParaRPr lang="en-US" sz="1150">
              <a:solidFill>
                <a:srgbClr val="17372B"/>
              </a:solidFill>
              <a:latin typeface="Aptos" panose="020B0004020202020204" pitchFamily="34" charset="0"/>
            </a:endParaRP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Choose one day or the full week.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7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BD7889-DF10-048B-896C-A51221227B9A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SCHOOL PARTNERSHIP CAMPAIGN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47AC6-2548-1D86-3033-2E8EA20E8F0C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Lead with a controlled pilot and operational clarity.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1BD40-0AF7-1F4B-150F-ED2CF8931AEC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ED2ED-CB2F-C6B4-CF60-08B654A56566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70C948-F2A7-B19B-61BD-7826F7196B28}"/>
              </a:ext>
            </a:extLst>
          </p:cNvPr>
          <p:cNvSpPr/>
          <p:nvPr/>
        </p:nvSpPr>
        <p:spPr>
          <a:xfrm>
            <a:off x="609600" y="1676400"/>
            <a:ext cx="10972800" cy="1168400"/>
          </a:xfrm>
          <a:prstGeom prst="roundRect">
            <a:avLst/>
          </a:prstGeom>
          <a:solidFill>
            <a:srgbClr val="FFFFFF"/>
          </a:solidFill>
          <a:ln>
            <a:solidFill>
              <a:srgbClr val="DADE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F6D3A-7E0E-4416-F1C8-D1F7C17F9AE4}"/>
              </a:ext>
            </a:extLst>
          </p:cNvPr>
          <p:cNvSpPr txBox="1"/>
          <p:nvPr/>
        </p:nvSpPr>
        <p:spPr>
          <a:xfrm>
            <a:off x="838200" y="1841500"/>
            <a:ext cx="1041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>
                <a:solidFill>
                  <a:srgbClr val="267047"/>
                </a:solidFill>
                <a:latin typeface="Aptos" panose="020B0004020202020204" pitchFamily="34" charset="0"/>
              </a:rPr>
              <a:t>yourdomain.in › schools › partnerships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411BD-2CE0-5861-B43F-307CA3BDBA00}"/>
              </a:ext>
            </a:extLst>
          </p:cNvPr>
          <p:cNvSpPr txBox="1"/>
          <p:nvPr/>
        </p:nvSpPr>
        <p:spPr>
          <a:xfrm>
            <a:off x="838200" y="2108200"/>
            <a:ext cx="1041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2156A5"/>
                </a:solidFill>
                <a:latin typeface="Aptos" panose="020B0004020202020204" pitchFamily="34" charset="0"/>
              </a:rPr>
              <a:t>School Meal Partner Chennai | Request a School Tasting</a:t>
            </a:r>
            <a:endParaRPr lang="en-IN" sz="1700">
              <a:solidFill>
                <a:srgbClr val="2156A5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A7579-866E-3193-F369-B71BBB91B002}"/>
              </a:ext>
            </a:extLst>
          </p:cNvPr>
          <p:cNvSpPr txBox="1"/>
          <p:nvPr/>
        </p:nvSpPr>
        <p:spPr>
          <a:xfrm>
            <a:off x="838200" y="2501900"/>
            <a:ext cx="10414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00">
                <a:solidFill>
                  <a:srgbClr val="484F44"/>
                </a:solidFill>
                <a:latin typeface="Aptos" panose="020B0004020202020204" pitchFamily="34" charset="0"/>
              </a:rPr>
              <a:t>Explore a structured vegetarian lunch pilot with coordinated campus delivery.</a:t>
            </a:r>
            <a:endParaRPr lang="en-IN" sz="1100">
              <a:solidFill>
                <a:srgbClr val="484F44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1EF940-F043-6F8C-4C7D-E77F63B8B724}"/>
              </a:ext>
            </a:extLst>
          </p:cNvPr>
          <p:cNvSpPr/>
          <p:nvPr/>
        </p:nvSpPr>
        <p:spPr>
          <a:xfrm>
            <a:off x="609600" y="3124200"/>
            <a:ext cx="5207000" cy="2768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D6C5C-E71A-B3E4-4232-824D9D930467}"/>
              </a:ext>
            </a:extLst>
          </p:cNvPr>
          <p:cNvSpPr txBox="1"/>
          <p:nvPr/>
        </p:nvSpPr>
        <p:spPr>
          <a:xfrm>
            <a:off x="812800" y="3302000"/>
            <a:ext cx="480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Headlines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516112-56D3-0103-1AD7-D7B732F5E440}"/>
              </a:ext>
            </a:extLst>
          </p:cNvPr>
          <p:cNvSpPr txBox="1"/>
          <p:nvPr/>
        </p:nvSpPr>
        <p:spPr>
          <a:xfrm>
            <a:off x="812800" y="3695700"/>
            <a:ext cx="4800600" cy="10618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School Meal Partner Chennai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Lunch Programs for Schools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Vegetarian Campus Meals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Labelled Student Meal Packs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Request a School Tasting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Talk to the LunchBox Team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B3A417-9268-7FBF-094D-09C9506FFE96}"/>
              </a:ext>
            </a:extLst>
          </p:cNvPr>
          <p:cNvSpPr/>
          <p:nvPr/>
        </p:nvSpPr>
        <p:spPr>
          <a:xfrm>
            <a:off x="6375400" y="3124200"/>
            <a:ext cx="5207000" cy="2768600"/>
          </a:xfrm>
          <a:prstGeom prst="roundRect">
            <a:avLst/>
          </a:prstGeom>
          <a:solidFill>
            <a:srgbClr val="FFFFFF"/>
          </a:solidFill>
          <a:ln>
            <a:solidFill>
              <a:srgbClr val="DFE6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CC514-A62F-1412-9577-B1B51CE34685}"/>
              </a:ext>
            </a:extLst>
          </p:cNvPr>
          <p:cNvSpPr txBox="1"/>
          <p:nvPr/>
        </p:nvSpPr>
        <p:spPr>
          <a:xfrm>
            <a:off x="6578600" y="3302000"/>
            <a:ext cx="48006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 b="1">
                <a:solidFill>
                  <a:srgbClr val="F2A63B"/>
                </a:solidFill>
                <a:latin typeface="Aptos" panose="020B0004020202020204" pitchFamily="34" charset="0"/>
              </a:rPr>
              <a:t>Lead qualification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C1AC31-38CC-CF73-6F1B-2B04EAD11B7C}"/>
              </a:ext>
            </a:extLst>
          </p:cNvPr>
          <p:cNvSpPr txBox="1"/>
          <p:nvPr/>
        </p:nvSpPr>
        <p:spPr>
          <a:xfrm>
            <a:off x="6578600" y="3695700"/>
            <a:ext cx="4800600" cy="106182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School and area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Decision-maker role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Approximate student count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Current lunch arrangement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Preferred meeting date</a:t>
            </a:r>
          </a:p>
          <a:p>
            <a:r>
              <a:rPr lang="en-US" sz="1150">
                <a:solidFill>
                  <a:srgbClr val="17372B"/>
                </a:solidFill>
                <a:latin typeface="Aptos" panose="020B0004020202020204" pitchFamily="34" charset="0"/>
              </a:rPr>
              <a:t>Consent to contact</a:t>
            </a:r>
            <a:endParaRPr lang="en-IN" sz="1150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561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936901-C577-779F-85B9-0BADD5E22438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MEASUREMENT AND ECONOMICS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9EC30D-2EA8-3B7D-11A7-735238C2C5B0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Optimize for retained families—not cheap clicks.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A081C-24B2-F271-ACE0-8BD44B31FB7F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2D5BC-B65F-9220-0123-F299654511F3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AA32D8-6F8F-5E1D-AAD0-93254C8B6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53239"/>
              </p:ext>
            </p:extLst>
          </p:nvPr>
        </p:nvGraphicFramePr>
        <p:xfrm>
          <a:off x="609600" y="1778000"/>
          <a:ext cx="10972800" cy="261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404760757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134725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30571496"/>
                    </a:ext>
                  </a:extLst>
                </a:gridCol>
              </a:tblGrid>
              <a:tr h="373743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Event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Use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Value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74515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order_completed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Primary conversion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Actual order value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10696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weekly_plan_ordered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Primary conversion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Actual plan value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139181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school_lead_submitted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 conversion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Qualified lead estimate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99379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school_check / request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Secondary signal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No bidding value initially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873852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checkout_started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Diagnostic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Funnel measurement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860444"/>
                  </a:ext>
                </a:extLst>
              </a:tr>
              <a:tr h="373743"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repeat_order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Business KPI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Actual order value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545935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D2FA6E2-DF42-F83E-D206-94F557187EEC}"/>
              </a:ext>
            </a:extLst>
          </p:cNvPr>
          <p:cNvSpPr/>
          <p:nvPr/>
        </p:nvSpPr>
        <p:spPr>
          <a:xfrm>
            <a:off x="609600" y="4724400"/>
            <a:ext cx="10972800" cy="1219200"/>
          </a:xfrm>
          <a:prstGeom prst="roundRect">
            <a:avLst/>
          </a:prstGeom>
          <a:solidFill>
            <a:srgbClr val="F8EE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8EEE0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FEDBA-177D-3DF8-78EE-73AA1401B383}"/>
              </a:ext>
            </a:extLst>
          </p:cNvPr>
          <p:cNvSpPr txBox="1"/>
          <p:nvPr/>
        </p:nvSpPr>
        <p:spPr>
          <a:xfrm>
            <a:off x="863600" y="4914900"/>
            <a:ext cx="104648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MAXIMUM ACQUISITION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48A069-3623-D7A7-5605-D83C3CE21A68}"/>
              </a:ext>
            </a:extLst>
          </p:cNvPr>
          <p:cNvSpPr txBox="1"/>
          <p:nvPr/>
        </p:nvSpPr>
        <p:spPr>
          <a:xfrm>
            <a:off x="863600" y="5283200"/>
            <a:ext cx="104648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17372B"/>
                </a:solidFill>
                <a:latin typeface="Aptos" panose="020B0004020202020204" pitchFamily="34" charset="0"/>
              </a:rPr>
              <a:t>Gross profit per meal × expected meals per parent − fulfilment/support allowance − target profit</a:t>
            </a:r>
            <a:endParaRPr lang="en-IN" sz="16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220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5EB1D3-1DA7-3F90-4CE2-FCD3A2A81CD9}"/>
              </a:ext>
            </a:extLst>
          </p:cNvPr>
          <p:cNvSpPr txBox="1"/>
          <p:nvPr/>
        </p:nvSpPr>
        <p:spPr>
          <a:xfrm>
            <a:off x="609600" y="355600"/>
            <a:ext cx="10795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000" b="1">
                <a:solidFill>
                  <a:srgbClr val="F2A63B"/>
                </a:solidFill>
                <a:latin typeface="Aptos" panose="020B0004020202020204" pitchFamily="34" charset="0"/>
              </a:rPr>
              <a:t>90-DAY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9A8B4-4A96-1C3D-4544-BA6C5FF2CEA9}"/>
              </a:ext>
            </a:extLst>
          </p:cNvPr>
          <p:cNvSpPr txBox="1"/>
          <p:nvPr/>
        </p:nvSpPr>
        <p:spPr>
          <a:xfrm>
            <a:off x="609600" y="660400"/>
            <a:ext cx="1079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>
                <a:solidFill>
                  <a:srgbClr val="17372B"/>
                </a:solidFill>
                <a:latin typeface="Aptos" panose="020B0004020202020204" pitchFamily="34" charset="0"/>
              </a:rPr>
              <a:t>Move from readiness to controlled growth.</a:t>
            </a:r>
            <a:endParaRPr lang="en-IN" sz="2800" b="1">
              <a:solidFill>
                <a:srgbClr val="17372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76D86A-9C24-8444-1EC2-FE8AFDB31889}"/>
              </a:ext>
            </a:extLst>
          </p:cNvPr>
          <p:cNvSpPr/>
          <p:nvPr/>
        </p:nvSpPr>
        <p:spPr>
          <a:xfrm>
            <a:off x="609600" y="64770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9A734-42E8-262D-548B-528401183A94}"/>
              </a:ext>
            </a:extLst>
          </p:cNvPr>
          <p:cNvSpPr txBox="1"/>
          <p:nvPr/>
        </p:nvSpPr>
        <p:spPr>
          <a:xfrm>
            <a:off x="609600" y="6553200"/>
            <a:ext cx="3302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6C7666"/>
                </a:solidFill>
                <a:latin typeface="Aptos" panose="020B0004020202020204" pitchFamily="34" charset="0"/>
              </a:rPr>
              <a:t>LUNCHBOX · LAUNCH STRATEGY 2026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EB9A5B7-F8FA-7348-67D0-463DACEA4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362033"/>
              </p:ext>
            </p:extLst>
          </p:nvPr>
        </p:nvGraphicFramePr>
        <p:xfrm>
          <a:off x="609600" y="1752600"/>
          <a:ext cx="10972800" cy="414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2193672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0349099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330066898"/>
                    </a:ext>
                  </a:extLst>
                </a:gridCol>
              </a:tblGrid>
              <a:tr h="82804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Period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Focus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Exit condition</a:t>
                      </a:r>
                    </a:p>
                  </a:txBody>
                  <a:tcPr marL="101600" marR="76200">
                    <a:solidFill>
                      <a:srgbClr val="174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114685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Days 1–14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Schools, compliance, payment, policies, analytics and testing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Real orders can be fulfilled and measured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232512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Days 15–30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Tastings, 50 trial families and delivery validation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Pilot quality targets are met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48379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Days 31–60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Search launch, weekly plans and funnel optimization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Acquisition economics are understood</a:t>
                      </a:r>
                    </a:p>
                  </a:txBody>
                  <a:tcPr marL="101600" marR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598890"/>
                  </a:ext>
                </a:extLst>
              </a:tr>
              <a:tr h="828040"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Days 61–90</a:t>
                      </a: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Retention, referrals and 2–3 more schools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rgbClr val="17372B"/>
                          </a:solidFill>
                          <a:latin typeface="Aptos" panose="020B0004020202020204" pitchFamily="34" charset="0"/>
                        </a:rPr>
                        <a:t>Onboarding and demand are repeatable</a:t>
                      </a:r>
                      <a:endParaRPr lang="en-IN" sz="1200">
                        <a:solidFill>
                          <a:srgbClr val="17372B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76200">
                    <a:solidFill>
                      <a:srgbClr val="F7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199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68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76AF70-4153-3BBB-7960-5FE3EE6E6321}"/>
              </a:ext>
            </a:extLst>
          </p:cNvPr>
          <p:cNvSpPr txBox="1"/>
          <p:nvPr/>
        </p:nvSpPr>
        <p:spPr>
          <a:xfrm>
            <a:off x="609600" y="508000"/>
            <a:ext cx="107950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100" b="1">
                <a:solidFill>
                  <a:srgbClr val="F2A63B"/>
                </a:solidFill>
                <a:latin typeface="Aptos" panose="020B0004020202020204" pitchFamily="34" charset="0"/>
              </a:rPr>
              <a:t>RECOMMENDED DECISION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63628-5988-6739-EAF5-B80210730161}"/>
              </a:ext>
            </a:extLst>
          </p:cNvPr>
          <p:cNvSpPr txBox="1"/>
          <p:nvPr/>
        </p:nvSpPr>
        <p:spPr>
          <a:xfrm>
            <a:off x="609600" y="990600"/>
            <a:ext cx="10414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 Display" panose="020B0004020202020204" pitchFamily="34" charset="0"/>
              </a:rPr>
              <a:t>Approve a Chennai pilot—after the readiness gate.</a:t>
            </a:r>
            <a:endParaRPr lang="en-IN" sz="32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AD312-CF5A-3B71-52E6-4648954D92B3}"/>
              </a:ext>
            </a:extLst>
          </p:cNvPr>
          <p:cNvSpPr txBox="1"/>
          <p:nvPr/>
        </p:nvSpPr>
        <p:spPr>
          <a:xfrm>
            <a:off x="609600" y="2413000"/>
            <a:ext cx="9652000" cy="13926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900"/>
              </a:spcAft>
            </a:pPr>
            <a:r>
              <a:rPr lang="en-US" sz="1700">
                <a:solidFill>
                  <a:srgbClr val="EAF1E5"/>
                </a:solidFill>
                <a:latin typeface="Aptos" panose="020B0004020202020204" pitchFamily="34" charset="0"/>
              </a:rPr>
              <a:t>•  2–3 real schools in one delivery cluster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EAF1E5"/>
                </a:solidFill>
                <a:latin typeface="Aptos" panose="020B0004020202020204" pitchFamily="34" charset="0"/>
              </a:rPr>
              <a:t>•  Weekly plans as the primary parent conversion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EAF1E5"/>
                </a:solidFill>
                <a:latin typeface="Aptos" panose="020B0004020202020204" pitchFamily="34" charset="0"/>
              </a:rPr>
              <a:t>•  Search Ads as demand capture—not the growth engine</a:t>
            </a:r>
          </a:p>
          <a:p>
            <a:pPr>
              <a:spcAft>
                <a:spcPts val="900"/>
              </a:spcAft>
            </a:pPr>
            <a:r>
              <a:rPr lang="en-US" sz="1700">
                <a:solidFill>
                  <a:srgbClr val="EAF1E5"/>
                </a:solidFill>
                <a:latin typeface="Aptos" panose="020B0004020202020204" pitchFamily="34" charset="0"/>
              </a:rPr>
              <a:t>•  Expand only after reliable delivery and positive economics</a:t>
            </a:r>
            <a:endParaRPr lang="en-IN" sz="1700">
              <a:solidFill>
                <a:srgbClr val="EAF1E5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2B2B4-7367-2B98-C101-B19D102A3DF7}"/>
              </a:ext>
            </a:extLst>
          </p:cNvPr>
          <p:cNvSpPr/>
          <p:nvPr/>
        </p:nvSpPr>
        <p:spPr>
          <a:xfrm>
            <a:off x="609600" y="4991100"/>
            <a:ext cx="10972800" cy="25400"/>
          </a:xfrm>
          <a:prstGeom prst="rect">
            <a:avLst/>
          </a:prstGeom>
          <a:solidFill>
            <a:srgbClr val="F2A6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rgbClr val="F2A63B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061DB8-4BEA-E252-B855-0C046F8541AC}"/>
              </a:ext>
            </a:extLst>
          </p:cNvPr>
          <p:cNvSpPr txBox="1"/>
          <p:nvPr/>
        </p:nvSpPr>
        <p:spPr>
          <a:xfrm>
            <a:off x="609600" y="5283200"/>
            <a:ext cx="109728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Next step: complete the product and compliance checklist, select the Chennai pilot area, and confirm unit economics before activating ads.</a:t>
            </a:r>
            <a:endParaRPr lang="en-IN" sz="1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BDCA62-4FEF-362C-88E1-7033C4EB42B7}"/>
              </a:ext>
            </a:extLst>
          </p:cNvPr>
          <p:cNvSpPr txBox="1"/>
          <p:nvPr/>
        </p:nvSpPr>
        <p:spPr>
          <a:xfrm>
            <a:off x="609600" y="6324600"/>
            <a:ext cx="10795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800">
                <a:solidFill>
                  <a:srgbClr val="D1DDC9"/>
                </a:solidFill>
                <a:latin typeface="Aptos" panose="020B0004020202020204" pitchFamily="34" charset="0"/>
              </a:rPr>
              <a:t>Sources: Google Ads Help · Google Advertising Policies · FSSAI Advertising and Claims Regulations</a:t>
            </a:r>
            <a:endParaRPr lang="en-IN" sz="800">
              <a:solidFill>
                <a:srgbClr val="D1DDC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807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1026</Words>
  <Application>Microsoft Office PowerPoint</Application>
  <PresentationFormat>Custom</PresentationFormat>
  <Paragraphs>234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Malathy K</dc:creator>
  <cp:lastModifiedBy>Malathy K</cp:lastModifiedBy>
  <cp:revision>1</cp:revision>
  <dcterms:created xsi:type="dcterms:W3CDTF">2026-08-05T10:07:28Z</dcterms:created>
  <dcterms:modified xsi:type="dcterms:W3CDTF">2026-08-05T10:07:28Z</dcterms:modified>
</cp:coreProperties>
</file>